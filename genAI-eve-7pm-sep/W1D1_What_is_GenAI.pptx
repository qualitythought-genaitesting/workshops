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898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4930" y="-2103120"/>
            <a:ext cx="5486400" cy="5486400"/>
          </a:xfrm>
          <a:prstGeom prst="ellipse">
            <a:avLst/>
          </a:prstGeom>
          <a:solidFill>
            <a:srgbClr val="EAEB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241280" y="4023360"/>
            <a:ext cx="3291840" cy="3291840"/>
          </a:xfrm>
          <a:prstGeom prst="ellipse">
            <a:avLst/>
          </a:prstGeom>
          <a:solidFill>
            <a:srgbClr val="FCEA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 ·  DAY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</a:t>
            </a:r>
            <a:r>
              <a:rPr lang="en-US" sz="48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</a:t>
            </a:r>
            <a:r>
              <a:rPr lang="en-US" sz="4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Application?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41248" y="361188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thing we're about to test — in plain English.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5212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·  Gen AI Testing for Manual Testers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960120"/>
            <a:ext cx="777240" cy="7772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1068934"/>
            <a:ext cx="559613" cy="55961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20048B8F-D81F-4CC6-9B8B-2A36D7B31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32688" y="2139696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60" y="2231868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0512" y="21031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 AI really is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plain-English idea behind the hype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309360" y="182880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6601968" y="2139696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140" y="2231868"/>
            <a:ext cx="474025" cy="4740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79792" y="21031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LLM 'thinks'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guesses words, not looks them up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40080" y="384048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932688" y="4151376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60" y="4243548"/>
            <a:ext cx="474025" cy="474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10512" y="41148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of a Gen AI app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 you'll point your tests at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309360" y="384048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6601968" y="4151376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140" y="4243548"/>
            <a:ext cx="474025" cy="4740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79792" y="41148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fit in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and different for a tester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6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8D352A86-6842-40ED-A0E1-0E49BC977E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 is a very </a:t>
            </a:r>
            <a:r>
              <a:rPr lang="en-US" sz="30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well-read assistant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766560" cy="4023360"/>
          </a:xfrm>
          <a:prstGeom prst="roundRect">
            <a:avLst>
              <a:gd name="adj" fmla="val 2500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2148840"/>
            <a:ext cx="6126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an intern who has read almost everything on the internet.
</a:t>
            </a:r>
            <a:endParaRPr lang="en-US" sz="19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and they answer instantly — in any style, any language. They can write, summarize, translate and explain.
</a:t>
            </a:r>
            <a:endParaRPr lang="en-US" sz="19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ED3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here's the catch: </a:t>
            </a:r>
            <a:r>
              <a:rPr lang="en-US" sz="18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sometimes sound confident even when they're wrong.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0"/>
            <a:ext cx="3886200" cy="4023360"/>
          </a:xfrm>
          <a:prstGeom prst="roundRect">
            <a:avLst>
              <a:gd name="adj" fmla="val 2588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955280" y="2103120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452" y="2195292"/>
            <a:ext cx="474025" cy="4740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96528" y="21579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line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955280" y="2971800"/>
            <a:ext cx="3246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 AI creates new content (text, code, images) instead of just storing and fetching it.”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58E924F8-4399-42C2-ADDF-FEB2B294B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predicts the next word — like </a:t>
            </a:r>
            <a:r>
              <a:rPr lang="en-US" sz="30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0" cy="3977640"/>
          </a:xfrm>
          <a:prstGeom prst="roundRect">
            <a:avLst>
              <a:gd name="adj" fmla="val 252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72" y="2195292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2103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phone analogy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834640"/>
            <a:ext cx="44805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suggests the next word as you type.
</a:t>
            </a:r>
            <a:endParaRPr lang="en-US" sz="1600" dirty="0"/>
          </a:p>
          <a:p>
            <a:pPr marL="0" indent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does the same — but far more powerful, building whole answers one word at a time.
</a:t>
            </a:r>
            <a:endParaRPr lang="en-US" sz="1600" dirty="0"/>
          </a:p>
          <a:p>
            <a:pPr marL="0" indent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D3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testers: </a:t>
            </a: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generates a likely answer — it doesn't look one up. So answers can vary or be wrong.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52160" y="1828800"/>
            <a:ext cx="5669280" cy="3977640"/>
          </a:xfrm>
          <a:prstGeom prst="roundRect">
            <a:avLst>
              <a:gd name="adj" fmla="val 252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126480" y="2029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build the answer</a:t>
            </a:r>
            <a:endParaRPr lang="en-US" sz="1800" dirty="0"/>
          </a:p>
        </p:txBody>
      </p:sp>
      <p:pic>
        <p:nvPicPr>
          <p:cNvPr id="11" name="Image 1" descr="/home/claude/nextword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697480"/>
            <a:ext cx="5120640" cy="21671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26480" y="4983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— plays in slideshow mode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4CDF00E4-3EEF-4607-8B20-8C41098C7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MOVING PARTS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 a Gen AI application</a:t>
            </a:r>
            <a:endParaRPr lang="en-US" sz="3000" dirty="0"/>
          </a:p>
        </p:txBody>
      </p:sp>
      <p:pic>
        <p:nvPicPr>
          <p:cNvPr id="4" name="Image 0" descr="/home/claude/pipelin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48840"/>
            <a:ext cx="10360152" cy="2825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1E2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is something you can test — and each part can fail in its own way.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EA4C8345-B221-479B-ABED-7BDD2B5EC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customer-support chatbot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41248"/>
          </a:xfrm>
          <a:prstGeom prst="roundRect">
            <a:avLst>
              <a:gd name="adj" fmla="val 11957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1901952"/>
            <a:ext cx="603504" cy="603504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91" y="1986443"/>
            <a:ext cx="434523" cy="4345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783080"/>
            <a:ext cx="9601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asks:  </a:t>
            </a:r>
            <a:r>
              <a:rPr lang="en-US" sz="1900" i="1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is my order #1234?”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2907792"/>
            <a:ext cx="10881360" cy="603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868680" y="3044952"/>
            <a:ext cx="329184" cy="329184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68680" y="3044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17320" y="2907792"/>
            <a:ext cx="9921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UI  —  </a:t>
            </a: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typed question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40080" y="3566160"/>
            <a:ext cx="10881360" cy="603504"/>
          </a:xfrm>
          <a:prstGeom prst="roundRect">
            <a:avLst>
              <a:gd name="adj" fmla="val 16667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868680" y="3703320"/>
            <a:ext cx="329184" cy="329184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3703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17320" y="3566160"/>
            <a:ext cx="9921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—  </a:t>
            </a: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rules: 'be polite, only use our order data'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40080" y="4224528"/>
            <a:ext cx="10881360" cy="603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868680" y="4361688"/>
            <a:ext cx="329184" cy="329184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68680" y="4361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17320" y="4224528"/>
            <a:ext cx="9921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—  </a:t>
            </a: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friendly, helpful reply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640080" y="4882896"/>
            <a:ext cx="10881360" cy="603504"/>
          </a:xfrm>
          <a:prstGeom prst="roundRect">
            <a:avLst>
              <a:gd name="adj" fmla="val 16667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868680" y="5020056"/>
            <a:ext cx="329184" cy="329184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868680" y="5020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417320" y="4882896"/>
            <a:ext cx="9921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 —  </a:t>
            </a: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no private data leaks to the wrong user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640080" y="5541264"/>
            <a:ext cx="10881360" cy="603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868680" y="5678424"/>
            <a:ext cx="329184" cy="329184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868680" y="5678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417320" y="5541264"/>
            <a:ext cx="9921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 —  </a:t>
            </a: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'Your order #1234 ships tomorrow — here's the tracking link.'</a:t>
            </a:r>
            <a:endParaRPr lang="en-US" sz="1550" dirty="0"/>
          </a:p>
        </p:txBody>
      </p:sp>
      <p:sp>
        <p:nvSpPr>
          <p:cNvPr id="28" name="Shape 25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6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91047A2D-37F9-4E9C-BB50-434DDFBF0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DIFFERENT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 is </a:t>
            </a:r>
            <a:r>
              <a:rPr lang="en-US" sz="30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like normal software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931920"/>
          </a:xfrm>
          <a:prstGeom prst="roundRect">
            <a:avLst>
              <a:gd name="adj" fmla="val 2558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084832"/>
            <a:ext cx="603504" cy="603504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91" y="2169323"/>
            <a:ext cx="434523" cy="4345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848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software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fixed rules: if X, then Y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→ same output, every time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exact expected result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with: assertEquals (exact match)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3931920"/>
          </a:xfrm>
          <a:prstGeom prst="roundRect">
            <a:avLst>
              <a:gd name="adj" fmla="val 2558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446520" y="2084832"/>
            <a:ext cx="603504" cy="603504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011" y="2169323"/>
            <a:ext cx="434523" cy="4345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848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 software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92240" y="29718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— it generates answers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→ answer can change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what 'good' looks like, not exact words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with: meaning, facts, safety — not exact match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58F1850D-23CB-409D-AD0F-FAC8E3132A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fit as a tester?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934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instincts as always — pointed at new kinds of problems. This week we'll learn to catch each of these: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96112" y="2514600"/>
            <a:ext cx="585216" cy="585216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42" y="2596530"/>
            <a:ext cx="421356" cy="4213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2514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Made-up answers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false facts confidently ('hallucination')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297680" y="2240280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53712" y="2514600"/>
            <a:ext cx="585216" cy="585216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642" y="2596530"/>
            <a:ext cx="421356" cy="4213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85232" y="2514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each time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553712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 can give different replies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7955280" y="2240280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211312" y="2514600"/>
            <a:ext cx="585216" cy="585216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242" y="2596530"/>
            <a:ext cx="421356" cy="4213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42832" y="2514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tricked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11312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 inputs make it break its own rules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40080" y="4142232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896112" y="4416552"/>
            <a:ext cx="585216" cy="585216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42" y="4498482"/>
            <a:ext cx="421356" cy="4213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27632" y="441655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leak information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96112" y="51023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could reveal data it shouldn't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297680" y="4142232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4553712" y="4416552"/>
            <a:ext cx="585216" cy="585216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642" y="4498482"/>
            <a:ext cx="421356" cy="4213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85232" y="441655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or unsafe content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4553712" y="51023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can be unfair or inappropriate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7955280" y="4142232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4"/>
          <p:cNvSpPr/>
          <p:nvPr/>
        </p:nvSpPr>
        <p:spPr>
          <a:xfrm>
            <a:off x="8211312" y="4416552"/>
            <a:ext cx="585216" cy="585216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242" y="4498482"/>
            <a:ext cx="421356" cy="4213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42832" y="441655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or costly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8211312" y="51023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answers can be slow and expensive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28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29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pic>
        <p:nvPicPr>
          <p:cNvPr id="39" name="Image 0" descr="preencoded.png">
            <a:extLst>
              <a:ext uri="{FF2B5EF4-FFF2-40B4-BE49-F238E27FC236}">
                <a16:creationId xmlns:a16="http://schemas.microsoft.com/office/drawing/2014/main" id="{8A291844-8DBF-4D10-8EF4-F0220E65B9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EAEB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OUTCOMES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now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2045330"/>
            <a:ext cx="408188" cy="4081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in simple words, what a Gen AI application is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1520" y="2916936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2996306"/>
            <a:ext cx="408188" cy="4081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71216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an LLM produces answers (predicting words)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731520" y="3867912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3947282"/>
            <a:ext cx="408188" cy="4081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82219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parts of a Gen AI app and what each one does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731520" y="4818888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4898258"/>
            <a:ext cx="408188" cy="4081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54480" y="477316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testing Gen AI is different from normal software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2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09869B69-A8A7-40FD-A3FA-4CE09389E426}"/>
              </a:ext>
            </a:extLst>
          </p:cNvPr>
          <p:cNvSpPr/>
          <p:nvPr/>
        </p:nvSpPr>
        <p:spPr>
          <a:xfrm>
            <a:off x="9513570" y="-1645920"/>
            <a:ext cx="4572000" cy="4572000"/>
          </a:xfrm>
          <a:prstGeom prst="ellipse">
            <a:avLst/>
          </a:prstGeom>
          <a:solidFill>
            <a:srgbClr val="EAEB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D2A52ECF-84CD-4DE9-8EBE-B1827FDC3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07040" y="640080"/>
            <a:ext cx="804672" cy="804672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694" y="752734"/>
            <a:ext cx="579364" cy="5793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68680" y="1874520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45920" y="1874520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what does a Gen AI application do that normal software doesn't?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2898648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68680" y="2898648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645920" y="2898648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mostly... (a) looks answers up in a database, or (b) predicts the next word to build an answer?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" y="3922776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68680" y="3922776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645920" y="3922776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any two parts of a Gen AI application.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40080" y="4946904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868680" y="4946904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645920" y="4946904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we test a Gen AI answer with an exact-match check?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57DAE9EB-E6F3-4A14-ABC1-5AB03FBF9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21342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7904" y="187452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212848" y="18745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creates new content (answers, text, summaries) instead of only storing and fetching fixed data.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916936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868680" y="3099816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3176626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17904" y="2916936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A2.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212848" y="2916936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It predicts the next word, one at a time, to build the answer.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" y="3959352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68680" y="4142232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4219042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17904" y="3959352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A3.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212848" y="3959352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two of: User, App/UI, Prompt, LLM, Guardrails, Response.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40080" y="5001768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868680" y="5184648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5261458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17904" y="5001768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A4.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2212848" y="5001768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same question can give different wording each time — so we check meaning, facts and safety, not an exact string.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0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ED79C5AC-EE3A-4A81-85EC-F12CABC92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30-minute lab +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766560" cy="4023360"/>
          </a:xfrm>
          <a:prstGeom prst="roundRect">
            <a:avLst>
              <a:gd name="adj" fmla="val 2500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72" y="2195292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212140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mini-lab (30 min)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6263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AI chatbot (ChatGPT, Claude, or local Ollama).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10 different questions and save each reply.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one answer that surprised you — good or bad.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lines: what did you notice about how it answers?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notes in your GitHub: week1/day1-notes.md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35240" y="1828800"/>
            <a:ext cx="3886200" cy="4023360"/>
          </a:xfrm>
          <a:prstGeom prst="roundRect">
            <a:avLst>
              <a:gd name="adj" fmla="val 2588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7955280" y="2103120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452" y="2195292"/>
            <a:ext cx="474025" cy="4740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96528" y="21214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next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955280" y="3017520"/>
            <a:ext cx="3246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E2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Key Terminology
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you'll use all course: tokens, context window, temperature, embeddings, hallucination — each with a simple analogy.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B742DC23-F0F6-4130-9810-6E5C88082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1038</Words>
  <Application>Microsoft Office PowerPoint</Application>
  <PresentationFormat>Widescreen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Testing — Week 1 Day 1</dc:title>
  <dc:subject>PptxGenJS Presentation</dc:subject>
  <dc:creator>Quality Thought</dc:creator>
  <cp:lastModifiedBy>Ramprasad Vallabhadas</cp:lastModifiedBy>
  <cp:revision>2</cp:revision>
  <dcterms:created xsi:type="dcterms:W3CDTF">2026-06-15T09:15:47Z</dcterms:created>
  <dcterms:modified xsi:type="dcterms:W3CDTF">2026-09-28T14:20:02Z</dcterms:modified>
</cp:coreProperties>
</file>